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6" autoAdjust="0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13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498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57E8E-A074-479D-DEF9-2BA28783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CC07E-5325-5459-5687-5ABD11191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2D3B7-7683-AEDC-3350-79AFD4FB8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34ADA-08DB-5951-01E5-1A12538F95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93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" name="Text 1"/>
          <p:cNvSpPr/>
          <p:nvPr/>
        </p:nvSpPr>
        <p:spPr>
          <a:xfrm>
            <a:off x="5998464" y="863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4000" noProof="0" dirty="0">
                <a:solidFill>
                  <a:srgbClr val="000000"/>
                </a:solidFill>
              </a:rPr>
              <a:t>🏔️</a:t>
            </a:r>
            <a:endParaRPr lang="fr-CA" sz="140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52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 Orford Live »</a:t>
            </a:r>
            <a:endParaRPr lang="fr-CA" sz="5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900" noProof="0" dirty="0">
                <a:solidFill>
                  <a:srgbClr val="5D8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intégré de gestion de la montagne pour la patrouille du Mont Orford</a:t>
            </a:r>
            <a:endParaRPr lang="fr-CA" sz="1900" noProof="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5029200" cy="36576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i="1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à la Direction</a:t>
            </a:r>
            <a:endParaRPr lang="fr-CA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457200" y="4389120"/>
            <a:ext cx="2532634" cy="411480"/>
          </a:xfrm>
          <a:prstGeom prst="roundRect">
            <a:avLst>
              <a:gd name="adj" fmla="val 11111"/>
            </a:avLst>
          </a:prstGeom>
          <a:solidFill>
            <a:srgbClr val="1B4B72">
              <a:alpha val="80000"/>
            </a:srgbClr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25326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 b="1" noProof="0" dirty="0">
                <a:solidFill>
                  <a:srgbClr val="FFFFFF"/>
                </a:solidFill>
              </a:rPr>
              <a:t>Inspection</a:t>
            </a:r>
            <a:endParaRPr lang="fr-CA" sz="1200" noProof="0" dirty="0"/>
          </a:p>
        </p:txBody>
      </p:sp>
      <p:sp>
        <p:nvSpPr>
          <p:cNvPr id="11" name="Shape 9"/>
          <p:cNvSpPr/>
          <p:nvPr/>
        </p:nvSpPr>
        <p:spPr>
          <a:xfrm>
            <a:off x="3385058" y="4389120"/>
            <a:ext cx="2532634" cy="411480"/>
          </a:xfrm>
          <a:prstGeom prst="roundRect">
            <a:avLst>
              <a:gd name="adj" fmla="val 11111"/>
            </a:avLst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2" name="Text 10"/>
          <p:cNvSpPr/>
          <p:nvPr/>
        </p:nvSpPr>
        <p:spPr>
          <a:xfrm>
            <a:off x="3385058" y="4389120"/>
            <a:ext cx="25326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 b="1" noProof="0" dirty="0">
                <a:solidFill>
                  <a:srgbClr val="FFFFFF"/>
                </a:solidFill>
              </a:rPr>
              <a:t>Infraction</a:t>
            </a:r>
            <a:endParaRPr lang="fr-CA" sz="1200" noProof="0" dirty="0"/>
          </a:p>
        </p:txBody>
      </p:sp>
      <p:sp>
        <p:nvSpPr>
          <p:cNvPr id="13" name="Shape 11"/>
          <p:cNvSpPr/>
          <p:nvPr/>
        </p:nvSpPr>
        <p:spPr>
          <a:xfrm>
            <a:off x="6389116" y="4389120"/>
            <a:ext cx="2532634" cy="411480"/>
          </a:xfrm>
          <a:prstGeom prst="roundRect">
            <a:avLst>
              <a:gd name="adj" fmla="val 11111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4" name="Text 12"/>
          <p:cNvSpPr/>
          <p:nvPr/>
        </p:nvSpPr>
        <p:spPr>
          <a:xfrm>
            <a:off x="6389116" y="4389120"/>
            <a:ext cx="25326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 b="1" noProof="0" dirty="0">
                <a:solidFill>
                  <a:srgbClr val="FFFFFF"/>
                </a:solidFill>
              </a:rPr>
              <a:t>Signalisation</a:t>
            </a:r>
            <a:endParaRPr lang="fr-CA" sz="1200" noProof="0" dirty="0"/>
          </a:p>
        </p:txBody>
      </p:sp>
      <p:sp>
        <p:nvSpPr>
          <p:cNvPr id="4" name="Shape 2"/>
          <p:cNvSpPr/>
          <p:nvPr/>
        </p:nvSpPr>
        <p:spPr>
          <a:xfrm>
            <a:off x="5598160" y="86360"/>
            <a:ext cx="3434080" cy="3434080"/>
          </a:xfrm>
          <a:prstGeom prst="ellipse">
            <a:avLst/>
          </a:prstGeom>
          <a:solidFill>
            <a:srgbClr val="1B4B72">
              <a:alpha val="30000"/>
            </a:srgbClr>
          </a:solidFill>
          <a:ln w="12700">
            <a:solidFill>
              <a:srgbClr val="1B4B7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42"/>
          </a:solidFill>
          <a:ln w="12700">
            <a:solidFill>
              <a:srgbClr val="0D2B4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 suis-je et pourquoi ?</a:t>
            </a:r>
            <a:endParaRPr lang="fr-CA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690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CA" sz="3600" noProof="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Vincent Varaldi</a:t>
            </a:r>
            <a:endParaRPr lang="fr-CA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Réside à Eastman</a:t>
            </a:r>
          </a:p>
          <a:p>
            <a:pPr marL="171450" indent="-171450">
              <a:buFontTx/>
              <a:buChar char="-"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R&amp;D Can Am On Road pour BRP</a:t>
            </a:r>
          </a:p>
          <a:p>
            <a:pPr marL="171450" indent="-171450">
              <a:buFontTx/>
              <a:buChar char="-"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patrouilleur bénévole pour Orford</a:t>
            </a:r>
          </a:p>
          <a:p>
            <a:pPr marL="171450" indent="-171450">
              <a:buFontTx/>
              <a:buChar char="-"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Distributeur de marques de ski européennes en Amérique du Nord</a:t>
            </a:r>
          </a:p>
          <a:p>
            <a:pPr marL="171450" indent="-171450">
              <a:buFontTx/>
              <a:buChar char="-"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 Passionné de montagne et d’extérieur</a:t>
            </a:r>
            <a:endParaRPr lang="fr-CA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40690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1" name="Text 9"/>
          <p:cNvSpPr/>
          <p:nvPr/>
        </p:nvSpPr>
        <p:spPr>
          <a:xfrm>
            <a:off x="4709160" y="117043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600" noProof="0" dirty="0">
                <a:solidFill>
                  <a:srgbClr val="000000"/>
                </a:solidFill>
              </a:rPr>
              <a:t>📍</a:t>
            </a:r>
            <a:endParaRPr lang="fr-CA" sz="3600" noProof="0" dirty="0"/>
          </a:p>
        </p:txBody>
      </p:sp>
      <p:sp>
        <p:nvSpPr>
          <p:cNvPr id="12" name="Text 10"/>
          <p:cNvSpPr/>
          <p:nvPr/>
        </p:nvSpPr>
        <p:spPr>
          <a:xfrm>
            <a:off x="571500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</a:rPr>
              <a:t>Pourquoi…</a:t>
            </a:r>
            <a:endParaRPr lang="fr-CA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5715000" y="162763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m’investissant </a:t>
            </a:r>
            <a:r>
              <a:rPr lang="fr-CA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Orford j’ai pu saisir </a:t>
            </a: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fr-CA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structure et de simplification des procédures autour du travail des patrouilleurs.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406908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6" name="Text 14"/>
          <p:cNvSpPr/>
          <p:nvPr/>
        </p:nvSpPr>
        <p:spPr>
          <a:xfrm>
            <a:off x="365760" y="3090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600" noProof="0" dirty="0">
                <a:solidFill>
                  <a:srgbClr val="000000"/>
                </a:solidFill>
              </a:rPr>
              <a:t>🔄</a:t>
            </a:r>
            <a:endParaRPr lang="fr-CA" sz="3600" noProof="0" dirty="0"/>
          </a:p>
        </p:txBody>
      </p:sp>
      <p:sp>
        <p:nvSpPr>
          <p:cNvPr id="17" name="Text 15"/>
          <p:cNvSpPr/>
          <p:nvPr/>
        </p:nvSpPr>
        <p:spPr>
          <a:xfrm>
            <a:off x="1371600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moi</a:t>
            </a:r>
            <a:endParaRPr lang="fr-CA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1371600" y="3547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fr-CA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forte volonté d’aider ma communauté sur des éléments qui sont importants pour moi.</a:t>
            </a:r>
          </a:p>
          <a:p>
            <a:pPr marL="171450" indent="-171450">
              <a:buFontTx/>
              <a:buChar char="-"/>
            </a:pPr>
            <a:r>
              <a:rPr lang="fr-CA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disponibilité pour supporter ce développement et une bonne compréhension des organisations/entreprises.</a:t>
            </a:r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069080" cy="91440"/>
          </a:xfrm>
          <a:prstGeom prst="rect">
            <a:avLst/>
          </a:prstGeom>
          <a:solidFill>
            <a:srgbClr val="1B4B72"/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1" name="Text 19"/>
          <p:cNvSpPr/>
          <p:nvPr/>
        </p:nvSpPr>
        <p:spPr>
          <a:xfrm>
            <a:off x="4709160" y="3090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600" noProof="0" dirty="0">
                <a:solidFill>
                  <a:srgbClr val="000000"/>
                </a:solidFill>
              </a:rPr>
              <a:t>🔎</a:t>
            </a:r>
            <a:endParaRPr lang="fr-CA" sz="3600" noProof="0" dirty="0"/>
          </a:p>
        </p:txBody>
      </p:sp>
      <p:sp>
        <p:nvSpPr>
          <p:cNvPr id="22" name="Text 20"/>
          <p:cNvSpPr/>
          <p:nvPr/>
        </p:nvSpPr>
        <p:spPr>
          <a:xfrm>
            <a:off x="5715000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outils</a:t>
            </a:r>
            <a:endParaRPr lang="fr-CA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5715000" y="3547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Tx/>
              <a:buChar char="-"/>
            </a:pPr>
            <a:r>
              <a:rPr lang="fr-CA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gratuits pour le client, compatibles voir même déjà utilisé par Orford.</a:t>
            </a:r>
            <a:endParaRPr lang="fr-CA" sz="1150" noProof="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32C5A0A-8428-95B5-28F0-F65264B5C0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44" t="12324" r="19916" b="16405"/>
          <a:stretch>
            <a:fillRect/>
          </a:stretch>
        </p:blipFill>
        <p:spPr>
          <a:xfrm>
            <a:off x="373379" y="1195577"/>
            <a:ext cx="884962" cy="10078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6ABFC1-F381-9B5F-26CB-02C14D840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B1B8F4-5CBD-33C0-BC9F-4CD903A8D69F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42"/>
          </a:solidFill>
          <a:ln w="12700">
            <a:solidFill>
              <a:srgbClr val="0D2B4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001072-4643-A658-2B88-037C69EB2FB8}"/>
              </a:ext>
            </a:extLst>
          </p:cNvPr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problèmes à résoudre</a:t>
            </a:r>
            <a:endParaRPr lang="fr-CA" sz="30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E0D5D5-600B-CC0D-95AD-7E0DA5835AB0}"/>
              </a:ext>
            </a:extLst>
          </p:cNvPr>
          <p:cNvSpPr/>
          <p:nvPr/>
        </p:nvSpPr>
        <p:spPr>
          <a:xfrm>
            <a:off x="365760" y="10972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085D14A-E5A0-1601-797C-06DAF592E53E}"/>
              </a:ext>
            </a:extLst>
          </p:cNvPr>
          <p:cNvSpPr/>
          <p:nvPr/>
        </p:nvSpPr>
        <p:spPr>
          <a:xfrm>
            <a:off x="365760" y="1097280"/>
            <a:ext cx="406908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E2691B-95E5-692C-FEF6-A8EF76A7A471}"/>
              </a:ext>
            </a:extLst>
          </p:cNvPr>
          <p:cNvSpPr/>
          <p:nvPr/>
        </p:nvSpPr>
        <p:spPr>
          <a:xfrm>
            <a:off x="365760" y="117043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600" noProof="0" dirty="0">
                <a:solidFill>
                  <a:srgbClr val="000000"/>
                </a:solidFill>
              </a:rPr>
              <a:t>📋</a:t>
            </a:r>
            <a:endParaRPr lang="fr-CA" sz="360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FE1E73-3868-6F1C-8512-2E7A0C65569E}"/>
              </a:ext>
            </a:extLst>
          </p:cNvPr>
          <p:cNvSpPr/>
          <p:nvPr/>
        </p:nvSpPr>
        <p:spPr>
          <a:xfrm>
            <a:off x="137160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Rapports papier</a:t>
            </a:r>
            <a:endParaRPr lang="fr-CA" sz="14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6F08916-1259-DD41-54BD-08176DAD2735}"/>
              </a:ext>
            </a:extLst>
          </p:cNvPr>
          <p:cNvSpPr/>
          <p:nvPr/>
        </p:nvSpPr>
        <p:spPr>
          <a:xfrm>
            <a:off x="1371600" y="162763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 manuels, saisie dispersée, risque de perte et suivi en temps réel difficile.</a:t>
            </a:r>
            <a:endParaRPr lang="fr-CA" sz="1150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5DDDBB-F7CA-8855-2756-B22007FF5E98}"/>
              </a:ext>
            </a:extLst>
          </p:cNvPr>
          <p:cNvSpPr/>
          <p:nvPr/>
        </p:nvSpPr>
        <p:spPr>
          <a:xfrm>
            <a:off x="4709160" y="109728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4BA2293-8E69-367A-0596-C2580204F081}"/>
              </a:ext>
            </a:extLst>
          </p:cNvPr>
          <p:cNvSpPr/>
          <p:nvPr/>
        </p:nvSpPr>
        <p:spPr>
          <a:xfrm>
            <a:off x="4709160" y="1097280"/>
            <a:ext cx="40690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C6F6FD-4EA1-4C11-2C94-9CFC535CE775}"/>
              </a:ext>
            </a:extLst>
          </p:cNvPr>
          <p:cNvSpPr/>
          <p:nvPr/>
        </p:nvSpPr>
        <p:spPr>
          <a:xfrm>
            <a:off x="4709160" y="117043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600" noProof="0" dirty="0">
                <a:solidFill>
                  <a:srgbClr val="000000"/>
                </a:solidFill>
              </a:rPr>
              <a:t>📍</a:t>
            </a:r>
            <a:endParaRPr lang="fr-CA" sz="36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E1F84C-2C9E-1DE2-1CE2-6AFD2BC62D8E}"/>
              </a:ext>
            </a:extLst>
          </p:cNvPr>
          <p:cNvSpPr/>
          <p:nvPr/>
        </p:nvSpPr>
        <p:spPr>
          <a:xfrm>
            <a:off x="5715000" y="12344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 de vue globale</a:t>
            </a:r>
            <a:endParaRPr lang="fr-CA" sz="1400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17506DF-6AB9-55CD-0AE6-C7B12718836C}"/>
              </a:ext>
            </a:extLst>
          </p:cNvPr>
          <p:cNvSpPr/>
          <p:nvPr/>
        </p:nvSpPr>
        <p:spPr>
          <a:xfrm>
            <a:off x="5715000" y="162763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visualiser l'état de tous les sentiers et refuges en un coup d'œil.</a:t>
            </a:r>
            <a:endParaRPr lang="fr-CA" sz="115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F60BBD7-A801-A62C-3E78-A2F1318CAD20}"/>
              </a:ext>
            </a:extLst>
          </p:cNvPr>
          <p:cNvSpPr/>
          <p:nvPr/>
        </p:nvSpPr>
        <p:spPr>
          <a:xfrm>
            <a:off x="365760" y="30175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D4E41B6-0E56-1A16-F693-9AE6A5471B5B}"/>
              </a:ext>
            </a:extLst>
          </p:cNvPr>
          <p:cNvSpPr/>
          <p:nvPr/>
        </p:nvSpPr>
        <p:spPr>
          <a:xfrm>
            <a:off x="365760" y="3017520"/>
            <a:ext cx="4069080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A09E880-E030-CF1B-794D-BD08292383BF}"/>
              </a:ext>
            </a:extLst>
          </p:cNvPr>
          <p:cNvSpPr/>
          <p:nvPr/>
        </p:nvSpPr>
        <p:spPr>
          <a:xfrm>
            <a:off x="365760" y="3090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600" noProof="0" dirty="0">
                <a:solidFill>
                  <a:srgbClr val="000000"/>
                </a:solidFill>
              </a:rPr>
              <a:t>🔄</a:t>
            </a:r>
            <a:endParaRPr lang="fr-CA" sz="36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F2E74F-F013-418C-56D6-D2E4776CEB69}"/>
              </a:ext>
            </a:extLst>
          </p:cNvPr>
          <p:cNvSpPr/>
          <p:nvPr/>
        </p:nvSpPr>
        <p:spPr>
          <a:xfrm>
            <a:off x="1371600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Partage non uniformisé</a:t>
            </a:r>
            <a:endParaRPr lang="fr-CA" sz="1400" noProof="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5D9C728-78A8-1BA0-D211-6C5DF13E72C0}"/>
              </a:ext>
            </a:extLst>
          </p:cNvPr>
          <p:cNvSpPr/>
          <p:nvPr/>
        </p:nvSpPr>
        <p:spPr>
          <a:xfrm>
            <a:off x="1371600" y="3547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circule de façon inégale et sur divers supports.</a:t>
            </a:r>
            <a:endParaRPr lang="fr-CA" sz="1150" noProof="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0A9E776-E796-7519-7299-3A5817DE69F3}"/>
              </a:ext>
            </a:extLst>
          </p:cNvPr>
          <p:cNvSpPr/>
          <p:nvPr/>
        </p:nvSpPr>
        <p:spPr>
          <a:xfrm>
            <a:off x="4709160" y="3017520"/>
            <a:ext cx="40690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4913369-9988-B659-FAA4-45A2AAEB903A}"/>
              </a:ext>
            </a:extLst>
          </p:cNvPr>
          <p:cNvSpPr/>
          <p:nvPr/>
        </p:nvSpPr>
        <p:spPr>
          <a:xfrm>
            <a:off x="4709160" y="3017520"/>
            <a:ext cx="4069080" cy="91440"/>
          </a:xfrm>
          <a:prstGeom prst="rect">
            <a:avLst/>
          </a:prstGeom>
          <a:solidFill>
            <a:srgbClr val="1B4B72"/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D2F3FD3-5F90-2F46-A799-F039F1DD84F0}"/>
              </a:ext>
            </a:extLst>
          </p:cNvPr>
          <p:cNvSpPr/>
          <p:nvPr/>
        </p:nvSpPr>
        <p:spPr>
          <a:xfrm>
            <a:off x="4709160" y="3090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600" noProof="0" dirty="0">
                <a:solidFill>
                  <a:srgbClr val="000000"/>
                </a:solidFill>
              </a:rPr>
              <a:t>🔎</a:t>
            </a:r>
            <a:endParaRPr lang="fr-CA" sz="3600" noProof="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23D38FF-62DE-F6D8-D5CD-569FB64ABBA4}"/>
              </a:ext>
            </a:extLst>
          </p:cNvPr>
          <p:cNvSpPr/>
          <p:nvPr/>
        </p:nvSpPr>
        <p:spPr>
          <a:xfrm>
            <a:off x="5715000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D2B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Traçabilité difficile</a:t>
            </a:r>
            <a:endParaRPr lang="fr-CA" sz="1400" noProof="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FD84315-A68D-C3D2-2294-E503A5634546}"/>
              </a:ext>
            </a:extLst>
          </p:cNvPr>
          <p:cNvSpPr/>
          <p:nvPr/>
        </p:nvSpPr>
        <p:spPr>
          <a:xfrm>
            <a:off x="5715000" y="3547872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l'historique d'un incident d'une inspection ou d’un statut après coup est laborieux, voire impossible.</a:t>
            </a:r>
            <a:endParaRPr lang="fr-CA" sz="1150" noProof="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DF3CE9A-0886-0194-CC52-60E470297FC7}"/>
              </a:ext>
            </a:extLst>
          </p:cNvPr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300" b="1" i="1" noProof="0" dirty="0">
                <a:solidFill>
                  <a:srgbClr val="219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« Orford Live » digitalise, centralise et uniformise tout.</a:t>
            </a:r>
            <a:endParaRPr lang="fr-CA" sz="1300" noProof="0" dirty="0"/>
          </a:p>
        </p:txBody>
      </p:sp>
    </p:spTree>
    <p:extLst>
      <p:ext uri="{BB962C8B-B14F-4D97-AF65-F5344CB8AC3E}">
        <p14:creationId xmlns:p14="http://schemas.microsoft.com/office/powerpoint/2010/main" val="240732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28">
            <a:extLst>
              <a:ext uri="{FF2B5EF4-FFF2-40B4-BE49-F238E27FC236}">
                <a16:creationId xmlns:a16="http://schemas.microsoft.com/office/drawing/2014/main" id="{876F301F-5402-8EE7-0A6F-A4CCBD2AA091}"/>
              </a:ext>
            </a:extLst>
          </p:cNvPr>
          <p:cNvSpPr/>
          <p:nvPr/>
        </p:nvSpPr>
        <p:spPr>
          <a:xfrm>
            <a:off x="2750820" y="2612136"/>
            <a:ext cx="594360" cy="146304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0" name="Shape 28"/>
          <p:cNvSpPr/>
          <p:nvPr/>
        </p:nvSpPr>
        <p:spPr>
          <a:xfrm>
            <a:off x="5768340" y="2606040"/>
            <a:ext cx="594360" cy="146304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42"/>
          </a:solidFill>
          <a:ln w="12700">
            <a:solidFill>
              <a:srgbClr val="0D2B4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du système</a:t>
            </a:r>
            <a:endParaRPr lang="fr-CA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468880" cy="502920"/>
          </a:xfrm>
          <a:prstGeom prst="rect">
            <a:avLst/>
          </a:prstGeom>
          <a:solidFill>
            <a:srgbClr val="1B4B72"/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300" b="1" noProof="0" dirty="0">
                <a:solidFill>
                  <a:srgbClr val="FFFFFF"/>
                </a:solidFill>
              </a:rPr>
              <a:t>📱  Sur le terrain</a:t>
            </a:r>
            <a:endParaRPr lang="fr-CA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3337560" y="1143000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8" name="Shape 6"/>
          <p:cNvSpPr/>
          <p:nvPr/>
        </p:nvSpPr>
        <p:spPr>
          <a:xfrm>
            <a:off x="3337560" y="1143000"/>
            <a:ext cx="2468880" cy="50292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9" name="Text 7"/>
          <p:cNvSpPr/>
          <p:nvPr/>
        </p:nvSpPr>
        <p:spPr>
          <a:xfrm>
            <a:off x="3337560" y="1143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300" b="1" noProof="0" dirty="0">
                <a:solidFill>
                  <a:srgbClr val="FFFFFF"/>
                </a:solidFill>
              </a:rPr>
              <a:t>☁️  Plateforme Cloud</a:t>
            </a:r>
            <a:endParaRPr lang="fr-CA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6355080" y="1143000"/>
            <a:ext cx="24688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1" name="Shape 9"/>
          <p:cNvSpPr/>
          <p:nvPr/>
        </p:nvSpPr>
        <p:spPr>
          <a:xfrm>
            <a:off x="6355080" y="1143000"/>
            <a:ext cx="2468880" cy="502920"/>
          </a:xfrm>
          <a:prstGeom prst="rect">
            <a:avLst/>
          </a:prstGeom>
          <a:solidFill>
            <a:srgbClr val="0D2B42"/>
          </a:solidFill>
          <a:ln w="12700">
            <a:solidFill>
              <a:srgbClr val="0D2B4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2" name="Text 10"/>
          <p:cNvSpPr/>
          <p:nvPr/>
        </p:nvSpPr>
        <p:spPr>
          <a:xfrm>
            <a:off x="6355080" y="11430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300" b="1" noProof="0" dirty="0">
                <a:solidFill>
                  <a:srgbClr val="FFFFFF"/>
                </a:solidFill>
              </a:rPr>
              <a:t>🖥️  Administration</a:t>
            </a:r>
            <a:endParaRPr lang="fr-CA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 tout temps</a:t>
            </a:r>
            <a:endParaRPr lang="fr-CA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Application mobile ou bureau</a:t>
            </a:r>
            <a:endParaRPr lang="fr-CA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Formulaires guidés</a:t>
            </a:r>
            <a:endParaRPr lang="fr-CA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Photos (Géolocalisées)</a:t>
            </a:r>
            <a:endParaRPr lang="fr-CA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347472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fr-CA" sz="1200" noProof="0" dirty="0" err="1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 Cloud)</a:t>
            </a:r>
            <a:endParaRPr lang="fr-CA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3474720" y="2377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Gmail — intégration prévue</a:t>
            </a:r>
            <a:endParaRPr lang="fr-CA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fr-CA" sz="1200" noProof="0" dirty="0" err="1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sécurisé</a:t>
            </a:r>
            <a:endParaRPr lang="fr-CA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347472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Stockage photos &amp; données</a:t>
            </a:r>
            <a:endParaRPr lang="fr-CA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3474720" y="4224528"/>
            <a:ext cx="219456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2" name="Text 20"/>
          <p:cNvSpPr/>
          <p:nvPr/>
        </p:nvSpPr>
        <p:spPr>
          <a:xfrm>
            <a:off x="3531616" y="4242816"/>
            <a:ext cx="2080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900" noProof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Fusion prévue avec le compte Google Orford existant</a:t>
            </a:r>
            <a:endParaRPr lang="fr-CA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6492240" y="1874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Tableaux de bord</a:t>
            </a:r>
            <a:endParaRPr lang="fr-CA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6492240" y="23774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Gestion utilisateurs</a:t>
            </a:r>
            <a:endParaRPr lang="fr-CA" sz="1200" noProof="0" dirty="0"/>
          </a:p>
        </p:txBody>
      </p:sp>
      <p:sp>
        <p:nvSpPr>
          <p:cNvPr id="25" name="Text 23"/>
          <p:cNvSpPr/>
          <p:nvPr/>
        </p:nvSpPr>
        <p:spPr>
          <a:xfrm>
            <a:off x="6492240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Rapports &amp; historique</a:t>
            </a:r>
            <a:endParaRPr lang="fr-CA" sz="1200" noProof="0" dirty="0"/>
          </a:p>
        </p:txBody>
      </p:sp>
      <p:sp>
        <p:nvSpPr>
          <p:cNvPr id="26" name="Text 24"/>
          <p:cNvSpPr/>
          <p:nvPr/>
        </p:nvSpPr>
        <p:spPr>
          <a:xfrm>
            <a:off x="6492240" y="33832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0D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Carte interactive</a:t>
            </a:r>
            <a:endParaRPr lang="fr-CA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274320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900" i="1" noProof="0" dirty="0">
                <a:solidFill>
                  <a:srgbClr val="64748B"/>
                </a:solidFill>
              </a:rPr>
              <a:t>Sync</a:t>
            </a:r>
            <a:endParaRPr lang="fr-CA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5768340" y="24561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000" noProof="0" dirty="0">
                <a:solidFill>
                  <a:schemeClr val="bg1"/>
                </a:solidFill>
              </a:rPr>
              <a:t>⟶</a:t>
            </a:r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 i="1" noProof="0" dirty="0">
                <a:solidFill>
                  <a:srgbClr val="64748B"/>
                </a:solidFill>
              </a:rPr>
              <a:t>Tous les rôles accèdent via navigateur web · Aucune installation requise</a:t>
            </a:r>
            <a:endParaRPr lang="fr-CA" sz="1200" noProof="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66C016E4-815F-19AA-82CC-4B14A75D9319}"/>
              </a:ext>
            </a:extLst>
          </p:cNvPr>
          <p:cNvSpPr/>
          <p:nvPr/>
        </p:nvSpPr>
        <p:spPr>
          <a:xfrm>
            <a:off x="2750820" y="246227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000" noProof="0" dirty="0">
                <a:solidFill>
                  <a:schemeClr val="bg1"/>
                </a:solidFill>
              </a:rPr>
              <a:t>⟶</a:t>
            </a:r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4776D6BB-9343-3848-5C7E-D9B56A650E99}"/>
              </a:ext>
            </a:extLst>
          </p:cNvPr>
          <p:cNvSpPr/>
          <p:nvPr/>
        </p:nvSpPr>
        <p:spPr>
          <a:xfrm>
            <a:off x="5760720" y="2880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900" i="1" noProof="0" dirty="0">
                <a:solidFill>
                  <a:srgbClr val="64748B"/>
                </a:solidFill>
              </a:rPr>
              <a:t>Sync</a:t>
            </a:r>
            <a:endParaRPr lang="fr-CA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42"/>
          </a:solidFill>
          <a:ln w="12700">
            <a:solidFill>
              <a:srgbClr val="0D2B4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4 modules fonctionnels</a:t>
            </a:r>
            <a:endParaRPr lang="fr-CA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91440" cy="1828800"/>
          </a:xfrm>
          <a:prstGeom prst="rect">
            <a:avLst/>
          </a:prstGeom>
          <a:solidFill>
            <a:srgbClr val="1B4B72"/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noProof="0" dirty="0">
                <a:solidFill>
                  <a:srgbClr val="1B4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Inspection</a:t>
            </a:r>
            <a:endParaRPr lang="fr-CA" sz="1700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des sentiers &amp; refuges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neige &amp; accessibilité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géolocalisées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globale partagée en temps réel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</a:t>
            </a:r>
            <a:endParaRPr lang="fr-CA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91440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0" name="Text 8"/>
          <p:cNvSpPr/>
          <p:nvPr/>
        </p:nvSpPr>
        <p:spPr>
          <a:xfrm>
            <a:off x="4983480" y="12070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noProof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🚨  Infraction</a:t>
            </a:r>
            <a:endParaRPr lang="fr-CA" sz="1700" noProof="0" dirty="0"/>
          </a:p>
        </p:txBody>
      </p:sp>
      <p:sp>
        <p:nvSpPr>
          <p:cNvPr id="11" name="Text 9"/>
          <p:cNvSpPr/>
          <p:nvPr/>
        </p:nvSpPr>
        <p:spPr>
          <a:xfrm>
            <a:off x="4983480" y="166420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de l'infraction sur le terrain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du contrevenant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géolocalisées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sanctions admin</a:t>
            </a:r>
            <a:endParaRPr lang="fr-CA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3" name="Shape 11"/>
          <p:cNvSpPr/>
          <p:nvPr/>
        </p:nvSpPr>
        <p:spPr>
          <a:xfrm>
            <a:off x="274320" y="315468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3264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noProof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🚧  Signalisation</a:t>
            </a:r>
            <a:endParaRPr lang="fr-CA" sz="1700" noProof="0" dirty="0"/>
          </a:p>
        </p:txBody>
      </p:sp>
      <p:sp>
        <p:nvSpPr>
          <p:cNvPr id="15" name="Text 13"/>
          <p:cNvSpPr/>
          <p:nvPr/>
        </p:nvSpPr>
        <p:spPr>
          <a:xfrm>
            <a:off x="502920" y="372160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de problèmes de panneaux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géolocalisée d'appui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par secteur &amp; sentier</a:t>
            </a:r>
            <a:endParaRPr lang="fr-CA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7" name="Shape 15"/>
          <p:cNvSpPr/>
          <p:nvPr/>
        </p:nvSpPr>
        <p:spPr>
          <a:xfrm>
            <a:off x="4754880" y="3154680"/>
            <a:ext cx="91440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8" name="Text 16"/>
          <p:cNvSpPr/>
          <p:nvPr/>
        </p:nvSpPr>
        <p:spPr>
          <a:xfrm>
            <a:off x="4983480" y="3264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700" b="1" noProof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🎫  Support</a:t>
            </a:r>
            <a:endParaRPr lang="fr-CA" sz="1700" noProof="0" dirty="0"/>
          </a:p>
        </p:txBody>
      </p:sp>
      <p:sp>
        <p:nvSpPr>
          <p:cNvPr id="19" name="Text 17"/>
          <p:cNvSpPr/>
          <p:nvPr/>
        </p:nvSpPr>
        <p:spPr>
          <a:xfrm>
            <a:off x="4983480" y="372160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de demandes internes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par l'administration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à tous les utilisateurs</a:t>
            </a:r>
            <a:endParaRPr lang="fr-CA" sz="1200" noProof="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demandes</a:t>
            </a:r>
            <a:endParaRPr lang="fr-CA" sz="12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de bord &amp; Carte interactive</a:t>
            </a:r>
            <a:endParaRPr lang="fr-CA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280160"/>
          </a:xfrm>
          <a:prstGeom prst="rect">
            <a:avLst/>
          </a:prstGeom>
          <a:solidFill>
            <a:srgbClr val="1E3A52"/>
          </a:solidFill>
          <a:ln w="12700">
            <a:solidFill>
              <a:srgbClr val="5D8D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200" noProof="0" dirty="0">
                <a:solidFill>
                  <a:srgbClr val="000000"/>
                </a:solidFill>
              </a:rPr>
              <a:t>✅</a:t>
            </a:r>
            <a:endParaRPr lang="fr-CA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b="1" noProof="0" dirty="0">
                <a:solidFill>
                  <a:srgbClr val="FFFFFF"/>
                </a:solidFill>
              </a:rPr>
              <a:t>38</a:t>
            </a:r>
            <a:endParaRPr lang="fr-CA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950" noProof="0" dirty="0">
                <a:solidFill>
                  <a:srgbClr val="CBD5E1"/>
                </a:solidFill>
              </a:rPr>
              <a:t>Sentiers inspectés</a:t>
            </a:r>
            <a:endParaRPr lang="fr-CA" sz="950" noProof="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280160"/>
          </a:xfrm>
          <a:prstGeom prst="rect">
            <a:avLst/>
          </a:prstGeom>
          <a:solidFill>
            <a:srgbClr val="1E3A52"/>
          </a:solidFill>
          <a:ln w="12700">
            <a:solidFill>
              <a:srgbClr val="5D8D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9" name="Text 7"/>
          <p:cNvSpPr/>
          <p:nvPr/>
        </p:nvSpPr>
        <p:spPr>
          <a:xfrm>
            <a:off x="256032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200" noProof="0" dirty="0">
                <a:solidFill>
                  <a:srgbClr val="000000"/>
                </a:solidFill>
              </a:rPr>
              <a:t>⚠️</a:t>
            </a:r>
            <a:endParaRPr lang="fr-CA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256032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b="1" noProof="0" dirty="0">
                <a:solidFill>
                  <a:srgbClr val="FFFFFF"/>
                </a:solidFill>
              </a:rPr>
              <a:t>7</a:t>
            </a:r>
            <a:endParaRPr lang="fr-CA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2560320" y="2029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950" noProof="0" dirty="0">
                <a:solidFill>
                  <a:srgbClr val="CBD5E1"/>
                </a:solidFill>
              </a:rPr>
              <a:t>En attention</a:t>
            </a:r>
            <a:endParaRPr lang="fr-CA" sz="950" noProof="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280160"/>
          </a:xfrm>
          <a:prstGeom prst="rect">
            <a:avLst/>
          </a:prstGeom>
          <a:solidFill>
            <a:srgbClr val="1E3A52"/>
          </a:solidFill>
          <a:ln w="12700">
            <a:solidFill>
              <a:srgbClr val="5D8D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200" noProof="0" dirty="0">
                <a:solidFill>
                  <a:srgbClr val="000000"/>
                </a:solidFill>
              </a:rPr>
              <a:t>🔴</a:t>
            </a:r>
            <a:endParaRPr lang="fr-CA" sz="2200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b="1" noProof="0" dirty="0">
                <a:solidFill>
                  <a:srgbClr val="FFFFFF"/>
                </a:solidFill>
              </a:rPr>
              <a:t>2</a:t>
            </a:r>
            <a:endParaRPr lang="fr-CA" sz="2800" noProof="0" dirty="0"/>
          </a:p>
        </p:txBody>
      </p:sp>
      <p:sp>
        <p:nvSpPr>
          <p:cNvPr id="15" name="Text 13"/>
          <p:cNvSpPr/>
          <p:nvPr/>
        </p:nvSpPr>
        <p:spPr>
          <a:xfrm>
            <a:off x="4663440" y="2029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950" noProof="0" dirty="0">
                <a:solidFill>
                  <a:srgbClr val="CBD5E1"/>
                </a:solidFill>
              </a:rPr>
              <a:t>Critiques</a:t>
            </a:r>
            <a:endParaRPr lang="fr-CA" sz="950" noProof="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280160"/>
          </a:xfrm>
          <a:prstGeom prst="rect">
            <a:avLst/>
          </a:prstGeom>
          <a:solidFill>
            <a:srgbClr val="1E3A52"/>
          </a:solidFill>
          <a:ln w="12700">
            <a:solidFill>
              <a:srgbClr val="5D8DB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7" name="Text 15"/>
          <p:cNvSpPr/>
          <p:nvPr/>
        </p:nvSpPr>
        <p:spPr>
          <a:xfrm>
            <a:off x="6766560" y="1143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200" noProof="0" dirty="0">
                <a:solidFill>
                  <a:srgbClr val="000000"/>
                </a:solidFill>
              </a:rPr>
              <a:t>⬜</a:t>
            </a:r>
            <a:endParaRPr lang="fr-CA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6766560" y="1572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b="1" noProof="0" dirty="0">
                <a:solidFill>
                  <a:srgbClr val="FFFFFF"/>
                </a:solidFill>
              </a:rPr>
              <a:t>5</a:t>
            </a:r>
            <a:endParaRPr lang="fr-CA" sz="2800" noProof="0" dirty="0"/>
          </a:p>
        </p:txBody>
      </p:sp>
      <p:sp>
        <p:nvSpPr>
          <p:cNvPr id="19" name="Text 17"/>
          <p:cNvSpPr/>
          <p:nvPr/>
        </p:nvSpPr>
        <p:spPr>
          <a:xfrm>
            <a:off x="6766560" y="202996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950" noProof="0" dirty="0">
                <a:solidFill>
                  <a:srgbClr val="CBD5E1"/>
                </a:solidFill>
              </a:rPr>
              <a:t>Non inspectés</a:t>
            </a:r>
            <a:endParaRPr lang="fr-CA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5303520" cy="2286000"/>
          </a:xfrm>
          <a:prstGeom prst="rect">
            <a:avLst/>
          </a:prstGeom>
          <a:solidFill>
            <a:srgbClr val="1A3A2A"/>
          </a:solidFill>
          <a:ln w="12700">
            <a:solidFill>
              <a:srgbClr val="2196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256032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8000" noProof="0" dirty="0">
                <a:solidFill>
                  <a:srgbClr val="000000"/>
                </a:solidFill>
              </a:rPr>
              <a:t>🗺️</a:t>
            </a:r>
            <a:endParaRPr lang="fr-CA" sz="8000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100" i="1" noProof="0" dirty="0">
                <a:solidFill>
                  <a:srgbClr val="CBD5E1"/>
                </a:solidFill>
              </a:rPr>
              <a:t>Carte interactive Mont Orford</a:t>
            </a:r>
            <a:endParaRPr lang="fr-CA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5989320" y="2542032"/>
            <a:ext cx="2834640" cy="365760"/>
          </a:xfrm>
          <a:prstGeom prst="rect">
            <a:avLst/>
          </a:prstGeom>
          <a:solidFill>
            <a:srgbClr val="1E3A52"/>
          </a:solidFill>
          <a:ln w="12700">
            <a:solidFill>
              <a:srgbClr val="243D5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4" name="Text 22"/>
          <p:cNvSpPr/>
          <p:nvPr/>
        </p:nvSpPr>
        <p:spPr>
          <a:xfrm>
            <a:off x="6080760" y="25786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Marqueurs colorés par état</a:t>
            </a:r>
            <a:endParaRPr lang="fr-CA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5989320" y="2971800"/>
            <a:ext cx="2834640" cy="365760"/>
          </a:xfrm>
          <a:prstGeom prst="rect">
            <a:avLst/>
          </a:prstGeom>
          <a:solidFill>
            <a:srgbClr val="1E3A52"/>
          </a:solidFill>
          <a:ln w="12700">
            <a:solidFill>
              <a:srgbClr val="243D5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6" name="Text 24"/>
          <p:cNvSpPr/>
          <p:nvPr/>
        </p:nvSpPr>
        <p:spPr>
          <a:xfrm>
            <a:off x="6080760" y="30083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Mise à jour en temps réel</a:t>
            </a:r>
            <a:endParaRPr lang="fr-CA" sz="1200" noProof="0" dirty="0"/>
          </a:p>
        </p:txBody>
      </p:sp>
      <p:sp>
        <p:nvSpPr>
          <p:cNvPr id="27" name="Shape 25"/>
          <p:cNvSpPr/>
          <p:nvPr/>
        </p:nvSpPr>
        <p:spPr>
          <a:xfrm>
            <a:off x="5989320" y="3401568"/>
            <a:ext cx="2834640" cy="365760"/>
          </a:xfrm>
          <a:prstGeom prst="rect">
            <a:avLst/>
          </a:prstGeom>
          <a:solidFill>
            <a:srgbClr val="1E3A52"/>
          </a:solidFill>
          <a:ln w="12700">
            <a:solidFill>
              <a:srgbClr val="243D5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8" name="Text 26"/>
          <p:cNvSpPr/>
          <p:nvPr/>
        </p:nvSpPr>
        <p:spPr>
          <a:xfrm>
            <a:off x="6080760" y="343814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Vue inspection / statut</a:t>
            </a:r>
            <a:endParaRPr lang="fr-CA" sz="1200" noProof="0" dirty="0"/>
          </a:p>
        </p:txBody>
      </p:sp>
      <p:sp>
        <p:nvSpPr>
          <p:cNvPr id="29" name="Shape 27"/>
          <p:cNvSpPr/>
          <p:nvPr/>
        </p:nvSpPr>
        <p:spPr>
          <a:xfrm>
            <a:off x="5989320" y="3831336"/>
            <a:ext cx="2834640" cy="365760"/>
          </a:xfrm>
          <a:prstGeom prst="rect">
            <a:avLst/>
          </a:prstGeom>
          <a:solidFill>
            <a:srgbClr val="1E3A52"/>
          </a:solidFill>
          <a:ln w="12700">
            <a:solidFill>
              <a:srgbClr val="243D5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0" name="Text 28"/>
          <p:cNvSpPr/>
          <p:nvPr/>
        </p:nvSpPr>
        <p:spPr>
          <a:xfrm>
            <a:off x="6080760" y="38679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Détails au clic</a:t>
            </a:r>
            <a:endParaRPr lang="fr-CA" sz="1200" noProof="0" dirty="0"/>
          </a:p>
        </p:txBody>
      </p:sp>
      <p:sp>
        <p:nvSpPr>
          <p:cNvPr id="31" name="Shape 29"/>
          <p:cNvSpPr/>
          <p:nvPr/>
        </p:nvSpPr>
        <p:spPr>
          <a:xfrm>
            <a:off x="5989320" y="4261104"/>
            <a:ext cx="2834640" cy="365760"/>
          </a:xfrm>
          <a:prstGeom prst="rect">
            <a:avLst/>
          </a:prstGeom>
          <a:solidFill>
            <a:srgbClr val="1E3A52"/>
          </a:solidFill>
          <a:ln w="12700">
            <a:solidFill>
              <a:srgbClr val="243D5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2" name="Text 30"/>
          <p:cNvSpPr/>
          <p:nvPr/>
        </p:nvSpPr>
        <p:spPr>
          <a:xfrm>
            <a:off x="6080760" y="4297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Actions admin protégées</a:t>
            </a:r>
            <a:endParaRPr lang="fr-CA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2B42"/>
          </a:solidFill>
          <a:ln w="12700">
            <a:solidFill>
              <a:srgbClr val="0D2B4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Rôles &amp; accès sécurisés</a:t>
            </a:r>
            <a:endParaRPr lang="fr-CA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594360"/>
          </a:xfrm>
          <a:prstGeom prst="rect">
            <a:avLst/>
          </a:prstGeom>
          <a:solidFill>
            <a:srgbClr val="1B4B72"/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600" b="1" noProof="0" dirty="0">
                <a:solidFill>
                  <a:srgbClr val="FFFFFF"/>
                </a:solidFill>
              </a:rPr>
              <a:t>👤  Patrouilleur</a:t>
            </a:r>
            <a:endParaRPr lang="fr-CA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mot de passe obligatoire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modules autorisés uniquement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rapports, infractions, signalisations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demandes de support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accès aux données des autres utilisateurs</a:t>
            </a:r>
            <a:endParaRPr lang="fr-CA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743200" cy="59436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0" name="Text 8"/>
          <p:cNvSpPr/>
          <p:nvPr/>
        </p:nvSpPr>
        <p:spPr>
          <a:xfrm>
            <a:off x="324612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600" b="1" noProof="0" dirty="0">
                <a:solidFill>
                  <a:srgbClr val="FFFFFF"/>
                </a:solidFill>
              </a:rPr>
              <a:t>🛡️  Administrateur</a:t>
            </a:r>
            <a:endParaRPr lang="fr-CA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fonctions patrouilleur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&amp; gérer tous les rapports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accès par module par utilisateur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statuts &amp; données terrain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données interdite</a:t>
            </a:r>
            <a:endParaRPr lang="fr-CA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217920" y="11430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74320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600" b="1" noProof="0" dirty="0">
                <a:solidFill>
                  <a:srgbClr val="FFFFFF"/>
                </a:solidFill>
              </a:rPr>
              <a:t>👑  Admin Système</a:t>
            </a:r>
            <a:endParaRPr lang="fr-CA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187452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à toutes les fonctions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profil autorisé à supprimer des données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globale des permissions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avancés &amp; gestion des modules</a:t>
            </a:r>
            <a:endParaRPr lang="fr-CA" sz="1200" noProof="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fr-CA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et intégrité du système</a:t>
            </a:r>
            <a:endParaRPr lang="fr-CA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050" i="1" noProof="0" dirty="0">
                <a:solidFill>
                  <a:srgbClr val="64748B"/>
                </a:solidFill>
              </a:rPr>
              <a:t>🔐  Accès par module configurable individuellement · Mot de passe requis pour tous · Seul l'Admin Système peut supprimer des données</a:t>
            </a:r>
            <a:endParaRPr lang="fr-CA" sz="10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B72"/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0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ça apporte concrètement</a:t>
            </a:r>
            <a:endParaRPr lang="fr-CA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noProof="0" dirty="0">
                <a:solidFill>
                  <a:srgbClr val="000000"/>
                </a:solidFill>
              </a:rPr>
              <a:t>⚡</a:t>
            </a:r>
            <a:endParaRPr lang="fr-CA" sz="2800" noProof="0" dirty="0"/>
          </a:p>
        </p:txBody>
      </p:sp>
      <p:sp>
        <p:nvSpPr>
          <p:cNvPr id="7" name="Text 5"/>
          <p:cNvSpPr/>
          <p:nvPr/>
        </p:nvSpPr>
        <p:spPr>
          <a:xfrm>
            <a:off x="1097280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2196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Temps réel</a:t>
            </a:r>
            <a:endParaRPr lang="fr-CA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384048" y="18470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du réseau est visible par tous, instantanément, depuis n'importe quel appareil.</a:t>
            </a:r>
            <a:endParaRPr lang="fr-CA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3218688" y="11887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0" name="Shape 8"/>
          <p:cNvSpPr/>
          <p:nvPr/>
        </p:nvSpPr>
        <p:spPr>
          <a:xfrm>
            <a:off x="3218688" y="1188720"/>
            <a:ext cx="2743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1" name="Text 9"/>
          <p:cNvSpPr/>
          <p:nvPr/>
        </p:nvSpPr>
        <p:spPr>
          <a:xfrm>
            <a:off x="3218688" y="12984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noProof="0" dirty="0">
                <a:solidFill>
                  <a:srgbClr val="000000"/>
                </a:solidFill>
              </a:rPr>
              <a:t>📂</a:t>
            </a:r>
            <a:endParaRPr lang="fr-CA" sz="2800" noProof="0" dirty="0"/>
          </a:p>
        </p:txBody>
      </p:sp>
      <p:sp>
        <p:nvSpPr>
          <p:cNvPr id="12" name="Text 10"/>
          <p:cNvSpPr/>
          <p:nvPr/>
        </p:nvSpPr>
        <p:spPr>
          <a:xfrm>
            <a:off x="4041648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Zéro papier</a:t>
            </a:r>
            <a:endParaRPr lang="fr-CA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3328416" y="18470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numérique, horodaté, et sauvegardé automatiquement dans le cloud.</a:t>
            </a:r>
            <a:endParaRPr lang="fr-CA" sz="1150" noProof="0" dirty="0"/>
          </a:p>
        </p:txBody>
      </p:sp>
      <p:sp>
        <p:nvSpPr>
          <p:cNvPr id="14" name="Shape 12"/>
          <p:cNvSpPr/>
          <p:nvPr/>
        </p:nvSpPr>
        <p:spPr>
          <a:xfrm>
            <a:off x="6163056" y="118872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15" name="Shape 13"/>
          <p:cNvSpPr/>
          <p:nvPr/>
        </p:nvSpPr>
        <p:spPr>
          <a:xfrm>
            <a:off x="6163056" y="1188720"/>
            <a:ext cx="2743200" cy="73152"/>
          </a:xfrm>
          <a:prstGeom prst="rect">
            <a:avLst/>
          </a:prstGeom>
          <a:solidFill>
            <a:srgbClr val="1B4B72"/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6" name="Text 14"/>
          <p:cNvSpPr/>
          <p:nvPr/>
        </p:nvSpPr>
        <p:spPr>
          <a:xfrm>
            <a:off x="6163056" y="129844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noProof="0" dirty="0">
                <a:solidFill>
                  <a:srgbClr val="000000"/>
                </a:solidFill>
              </a:rPr>
              <a:t>📊</a:t>
            </a:r>
            <a:endParaRPr lang="fr-CA" sz="2800" noProof="0" dirty="0"/>
          </a:p>
        </p:txBody>
      </p:sp>
      <p:sp>
        <p:nvSpPr>
          <p:cNvPr id="17" name="Text 15"/>
          <p:cNvSpPr/>
          <p:nvPr/>
        </p:nvSpPr>
        <p:spPr>
          <a:xfrm>
            <a:off x="6986016" y="13533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1B4B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Traçabilité</a:t>
            </a:r>
            <a:endParaRPr lang="fr-CA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6272784" y="18470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par inspection, infraction et signalement. Export CSV par période (ex. par saison) disponible.</a:t>
            </a:r>
            <a:endParaRPr lang="fr-CA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20" name="Shape 18"/>
          <p:cNvSpPr/>
          <p:nvPr/>
        </p:nvSpPr>
        <p:spPr>
          <a:xfrm>
            <a:off x="274320" y="2999232"/>
            <a:ext cx="274320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1" name="Text 19"/>
          <p:cNvSpPr/>
          <p:nvPr/>
        </p:nvSpPr>
        <p:spPr>
          <a:xfrm>
            <a:off x="274320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noProof="0" dirty="0">
                <a:solidFill>
                  <a:srgbClr val="000000"/>
                </a:solidFill>
              </a:rPr>
              <a:t>🔐</a:t>
            </a:r>
            <a:endParaRPr lang="fr-CA" sz="2800" noProof="0" dirty="0"/>
          </a:p>
        </p:txBody>
      </p:sp>
      <p:sp>
        <p:nvSpPr>
          <p:cNvPr id="22" name="Text 20"/>
          <p:cNvSpPr/>
          <p:nvPr/>
        </p:nvSpPr>
        <p:spPr>
          <a:xfrm>
            <a:off x="1097280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Sécurité</a:t>
            </a:r>
            <a:endParaRPr lang="fr-CA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384048" y="36576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contrôlé par rôle et par module. Mot de passe requis. Suppression réservée à l'Admin Système.</a:t>
            </a:r>
            <a:endParaRPr lang="fr-CA" sz="1150" noProof="0" dirty="0"/>
          </a:p>
        </p:txBody>
      </p:sp>
      <p:sp>
        <p:nvSpPr>
          <p:cNvPr id="24" name="Shape 22"/>
          <p:cNvSpPr/>
          <p:nvPr/>
        </p:nvSpPr>
        <p:spPr>
          <a:xfrm>
            <a:off x="3218688" y="29992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25" name="Shape 23"/>
          <p:cNvSpPr/>
          <p:nvPr/>
        </p:nvSpPr>
        <p:spPr>
          <a:xfrm>
            <a:off x="3218688" y="2999232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6" name="Text 24"/>
          <p:cNvSpPr/>
          <p:nvPr/>
        </p:nvSpPr>
        <p:spPr>
          <a:xfrm>
            <a:off x="3218688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noProof="0" dirty="0">
                <a:solidFill>
                  <a:srgbClr val="000000"/>
                </a:solidFill>
              </a:rPr>
              <a:t>📱</a:t>
            </a:r>
            <a:endParaRPr lang="fr-CA" sz="2800" noProof="0" dirty="0"/>
          </a:p>
        </p:txBody>
      </p:sp>
      <p:sp>
        <p:nvSpPr>
          <p:cNvPr id="27" name="Text 25"/>
          <p:cNvSpPr/>
          <p:nvPr/>
        </p:nvSpPr>
        <p:spPr>
          <a:xfrm>
            <a:off x="4041648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Mobile-first</a:t>
            </a:r>
            <a:endParaRPr lang="fr-CA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3328416" y="36576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Conçu pour être utilisé sur le terrain, depuis un téléphone, sans installation.</a:t>
            </a:r>
            <a:endParaRPr lang="fr-CA" sz="1150" noProof="0" dirty="0"/>
          </a:p>
        </p:txBody>
      </p:sp>
      <p:sp>
        <p:nvSpPr>
          <p:cNvPr id="29" name="Shape 27"/>
          <p:cNvSpPr/>
          <p:nvPr/>
        </p:nvSpPr>
        <p:spPr>
          <a:xfrm>
            <a:off x="6163056" y="299923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 noProof="0" dirty="0"/>
          </a:p>
        </p:txBody>
      </p:sp>
      <p:sp>
        <p:nvSpPr>
          <p:cNvPr id="30" name="Shape 28"/>
          <p:cNvSpPr/>
          <p:nvPr/>
        </p:nvSpPr>
        <p:spPr>
          <a:xfrm>
            <a:off x="6163056" y="2999232"/>
            <a:ext cx="274320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31" name="Text 29"/>
          <p:cNvSpPr/>
          <p:nvPr/>
        </p:nvSpPr>
        <p:spPr>
          <a:xfrm>
            <a:off x="6163056" y="31089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2800" noProof="0" dirty="0">
                <a:solidFill>
                  <a:srgbClr val="000000"/>
                </a:solidFill>
              </a:rPr>
              <a:t>🚀</a:t>
            </a:r>
            <a:endParaRPr lang="fr-CA" sz="2800" noProof="0" dirty="0"/>
          </a:p>
        </p:txBody>
      </p:sp>
      <p:sp>
        <p:nvSpPr>
          <p:cNvPr id="32" name="Text 30"/>
          <p:cNvSpPr/>
          <p:nvPr/>
        </p:nvSpPr>
        <p:spPr>
          <a:xfrm>
            <a:off x="6986016" y="31638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b="1" noProof="0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Évolutif</a:t>
            </a:r>
            <a:endParaRPr lang="fr-CA" sz="1400" noProof="0" dirty="0"/>
          </a:p>
        </p:txBody>
      </p:sp>
      <p:sp>
        <p:nvSpPr>
          <p:cNvPr id="33" name="Text 31"/>
          <p:cNvSpPr/>
          <p:nvPr/>
        </p:nvSpPr>
        <p:spPr>
          <a:xfrm>
            <a:off x="6272784" y="365760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15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réactif pour l'ajout de fonctions et l'amélioration des apps. Potentiel d'intégration avec d'autres équipes Orford.</a:t>
            </a:r>
            <a:endParaRPr lang="fr-CA" sz="11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9000" noProof="0" dirty="0">
                <a:solidFill>
                  <a:srgbClr val="000000"/>
                </a:solidFill>
              </a:rPr>
              <a:t>🎯</a:t>
            </a:r>
            <a:endParaRPr lang="fr-CA" sz="9000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3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Démonstration en direct</a:t>
            </a:r>
            <a:endParaRPr lang="fr-CA" sz="38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0" y="3291840"/>
            <a:ext cx="3657600" cy="4572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5" name="Shape 3"/>
          <p:cNvSpPr/>
          <p:nvPr/>
        </p:nvSpPr>
        <p:spPr>
          <a:xfrm>
            <a:off x="1234440" y="3547872"/>
            <a:ext cx="502920" cy="502920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6" name="Text 4"/>
          <p:cNvSpPr/>
          <p:nvPr/>
        </p:nvSpPr>
        <p:spPr>
          <a:xfrm>
            <a:off x="123444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400" b="1" noProof="0" dirty="0">
                <a:solidFill>
                  <a:srgbClr val="FFFFFF"/>
                </a:solidFill>
              </a:rPr>
              <a:t>1</a:t>
            </a:r>
            <a:endParaRPr lang="fr-CA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10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Portail &amp; authentification</a:t>
            </a:r>
            <a:endParaRPr lang="fr-CA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3337560" y="3547872"/>
            <a:ext cx="502920" cy="502920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9" name="Text 7"/>
          <p:cNvSpPr/>
          <p:nvPr/>
        </p:nvSpPr>
        <p:spPr>
          <a:xfrm>
            <a:off x="333756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400" b="1" noProof="0" dirty="0">
                <a:solidFill>
                  <a:srgbClr val="FFFFFF"/>
                </a:solidFill>
              </a:rPr>
              <a:t>2</a:t>
            </a:r>
            <a:endParaRPr lang="fr-CA" sz="1400" noProof="0" dirty="0"/>
          </a:p>
        </p:txBody>
      </p:sp>
      <p:sp>
        <p:nvSpPr>
          <p:cNvPr id="10" name="Text 8"/>
          <p:cNvSpPr/>
          <p:nvPr/>
        </p:nvSpPr>
        <p:spPr>
          <a:xfrm>
            <a:off x="256032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10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&amp; carte</a:t>
            </a:r>
            <a:endParaRPr lang="fr-CA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5440680" y="3547872"/>
            <a:ext cx="502920" cy="502920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2" name="Text 10"/>
          <p:cNvSpPr/>
          <p:nvPr/>
        </p:nvSpPr>
        <p:spPr>
          <a:xfrm>
            <a:off x="544068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400" b="1" noProof="0" dirty="0">
                <a:solidFill>
                  <a:srgbClr val="FFFFFF"/>
                </a:solidFill>
              </a:rPr>
              <a:t>3</a:t>
            </a:r>
            <a:endParaRPr lang="fr-CA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466344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10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d'un rapport terrain</a:t>
            </a:r>
            <a:endParaRPr lang="fr-CA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7543800" y="3547872"/>
            <a:ext cx="502920" cy="502920"/>
          </a:xfrm>
          <a:prstGeom prst="ellipse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5" name="Text 13"/>
          <p:cNvSpPr/>
          <p:nvPr/>
        </p:nvSpPr>
        <p:spPr>
          <a:xfrm>
            <a:off x="754380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400" b="1" noProof="0" dirty="0">
                <a:solidFill>
                  <a:srgbClr val="FFFFFF"/>
                </a:solidFill>
              </a:rPr>
              <a:t>4</a:t>
            </a:r>
            <a:endParaRPr lang="fr-CA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676656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10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administration</a:t>
            </a:r>
            <a:endParaRPr lang="fr-CA" sz="11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34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de votre attention</a:t>
            </a:r>
            <a:endParaRPr lang="fr-CA" sz="34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600" i="1" noProof="0" dirty="0">
                <a:solidFill>
                  <a:srgbClr val="5D8D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Orford Live est prêt pour la démonstration.</a:t>
            </a:r>
            <a:endParaRPr lang="fr-CA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029200" cy="36576"/>
          </a:xfrm>
          <a:prstGeom prst="rect">
            <a:avLst/>
          </a:prstGeom>
          <a:solidFill>
            <a:srgbClr val="5D8DB3">
              <a:alpha val="50000"/>
            </a:srgbClr>
          </a:solidFill>
          <a:ln w="12700">
            <a:solidFill>
              <a:srgbClr val="5D8DB3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CA" sz="140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fr-CA" sz="1400" noProof="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C8E511C5-154E-9AD9-2927-5CFE645C2D81}"/>
              </a:ext>
            </a:extLst>
          </p:cNvPr>
          <p:cNvSpPr/>
          <p:nvPr/>
        </p:nvSpPr>
        <p:spPr>
          <a:xfrm>
            <a:off x="5998464" y="863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4000" noProof="0" dirty="0">
                <a:solidFill>
                  <a:srgbClr val="000000"/>
                </a:solidFill>
              </a:rPr>
              <a:t>🏔️</a:t>
            </a:r>
            <a:endParaRPr lang="fr-CA" sz="14000" noProof="0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D91CB530-DD19-0703-9362-454E6A5EC3BB}"/>
              </a:ext>
            </a:extLst>
          </p:cNvPr>
          <p:cNvSpPr/>
          <p:nvPr/>
        </p:nvSpPr>
        <p:spPr>
          <a:xfrm>
            <a:off x="5598160" y="86360"/>
            <a:ext cx="3434080" cy="3434080"/>
          </a:xfrm>
          <a:prstGeom prst="ellipse">
            <a:avLst/>
          </a:prstGeom>
          <a:solidFill>
            <a:srgbClr val="1B4B72">
              <a:alpha val="30000"/>
            </a:srgbClr>
          </a:solidFill>
          <a:ln w="12700">
            <a:solidFill>
              <a:srgbClr val="1B4B7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8FE7A8D-227A-9EB3-AFF7-D36BB0709087}"/>
              </a:ext>
            </a:extLst>
          </p:cNvPr>
          <p:cNvSpPr/>
          <p:nvPr/>
        </p:nvSpPr>
        <p:spPr>
          <a:xfrm>
            <a:off x="457200" y="4389120"/>
            <a:ext cx="2532634" cy="411480"/>
          </a:xfrm>
          <a:prstGeom prst="roundRect">
            <a:avLst>
              <a:gd name="adj" fmla="val 11111"/>
            </a:avLst>
          </a:prstGeom>
          <a:solidFill>
            <a:srgbClr val="1B4B72">
              <a:alpha val="80000"/>
            </a:srgbClr>
          </a:solidFill>
          <a:ln w="12700">
            <a:solidFill>
              <a:srgbClr val="1B4B72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17AEEE3-1F39-3990-6CFF-39237A7580A9}"/>
              </a:ext>
            </a:extLst>
          </p:cNvPr>
          <p:cNvSpPr/>
          <p:nvPr/>
        </p:nvSpPr>
        <p:spPr>
          <a:xfrm>
            <a:off x="457200" y="4389120"/>
            <a:ext cx="25326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 b="1" noProof="0" dirty="0">
                <a:solidFill>
                  <a:srgbClr val="FFFFFF"/>
                </a:solidFill>
              </a:rPr>
              <a:t>Inspection</a:t>
            </a:r>
            <a:endParaRPr lang="fr-CA" sz="1200" noProof="0" dirty="0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07D62D24-6EFA-29C4-02C6-F9E245C744BD}"/>
              </a:ext>
            </a:extLst>
          </p:cNvPr>
          <p:cNvSpPr/>
          <p:nvPr/>
        </p:nvSpPr>
        <p:spPr>
          <a:xfrm>
            <a:off x="3385058" y="4389120"/>
            <a:ext cx="2532634" cy="411480"/>
          </a:xfrm>
          <a:prstGeom prst="roundRect">
            <a:avLst>
              <a:gd name="adj" fmla="val 11111"/>
            </a:avLst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F1427821-F938-BE6D-B79D-6BE3374B9397}"/>
              </a:ext>
            </a:extLst>
          </p:cNvPr>
          <p:cNvSpPr/>
          <p:nvPr/>
        </p:nvSpPr>
        <p:spPr>
          <a:xfrm>
            <a:off x="3385058" y="4389120"/>
            <a:ext cx="25326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 b="1" noProof="0" dirty="0">
                <a:solidFill>
                  <a:srgbClr val="FFFFFF"/>
                </a:solidFill>
              </a:rPr>
              <a:t>Infraction</a:t>
            </a:r>
            <a:endParaRPr lang="fr-CA" sz="1200" noProof="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121E35C0-9B88-6236-6D18-354291810412}"/>
              </a:ext>
            </a:extLst>
          </p:cNvPr>
          <p:cNvSpPr/>
          <p:nvPr/>
        </p:nvSpPr>
        <p:spPr>
          <a:xfrm>
            <a:off x="6389116" y="4389120"/>
            <a:ext cx="2532634" cy="411480"/>
          </a:xfrm>
          <a:prstGeom prst="roundRect">
            <a:avLst>
              <a:gd name="adj" fmla="val 11111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CA" noProof="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C7399E7D-C7BE-DC13-1EFF-F75F46976CE7}"/>
              </a:ext>
            </a:extLst>
          </p:cNvPr>
          <p:cNvSpPr/>
          <p:nvPr/>
        </p:nvSpPr>
        <p:spPr>
          <a:xfrm>
            <a:off x="6389116" y="4389120"/>
            <a:ext cx="253263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CA" sz="1200" b="1" noProof="0" dirty="0">
                <a:solidFill>
                  <a:srgbClr val="FFFFFF"/>
                </a:solidFill>
              </a:rPr>
              <a:t>Signalisation</a:t>
            </a:r>
            <a:endParaRPr lang="fr-CA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728</Words>
  <Application>Microsoft Office PowerPoint</Application>
  <PresentationFormat>On-screen Show (16:9)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Orford Live – Présentation Direction</dc:title>
  <dc:subject>PptxGenJS Presentation</dc:subject>
  <dc:creator>PptxGenJS</dc:creator>
  <cp:lastModifiedBy>vincent varaldi</cp:lastModifiedBy>
  <cp:revision>4</cp:revision>
  <dcterms:created xsi:type="dcterms:W3CDTF">2026-03-08T16:11:34Z</dcterms:created>
  <dcterms:modified xsi:type="dcterms:W3CDTF">2026-03-09T11:17:35Z</dcterms:modified>
</cp:coreProperties>
</file>